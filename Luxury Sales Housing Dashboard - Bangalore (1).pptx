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8DB48-2088-49F9-AD04-DF4E72435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0BC52-A1E4-4789-973D-B7C47A8AB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1F4D4-8B4A-4860-99F7-D6471E7DB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F99D-FB73-4A25-911A-02A98A026DF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B6D94-FA5D-454F-B5B6-7E8882DF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BD12D-9125-439A-9703-43C48E26F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22DF-2FE6-486E-BCE1-18D438BC5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48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BF22E-DEB7-4C38-95CF-34905ABB3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5A9F1-EC70-4176-A559-EAD3199D2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C5429-5F47-4BCA-B2BB-A55368F1F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F99D-FB73-4A25-911A-02A98A026DF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DD372-0C3F-49A5-B435-768A8A3D4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50B06-47BD-478D-8079-574469E6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22DF-2FE6-486E-BCE1-18D438BC5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547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264A6-FDB5-4411-9F8A-FAF68422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98AA1-57AD-45D1-A040-217ED82D3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3EB1B-D8E9-4E11-A471-91AB24F37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F99D-FB73-4A25-911A-02A98A026DF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C1A7A-7A06-4C5D-9730-28D6D108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5760A-2DA3-4F69-85ED-C1C24F23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22DF-2FE6-486E-BCE1-18D438BC5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206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333E-F1B6-4785-A9AE-C2F5A4F42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2D52D-8CA6-40EE-96A3-71273A74F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70A41-5D6D-47D2-A12A-81FCACABF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3516F-7A42-4041-87BC-FF0F5E793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F99D-FB73-4A25-911A-02A98A026DF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96C52-2E62-4A6A-87C2-CC2446E8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12CB0-ACC6-46DF-A371-9868F5C94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22DF-2FE6-486E-BCE1-18D438BC5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25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3E0B-30FC-4353-B9AB-C721EE945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8E8AD-272E-492D-B734-259FEB00D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6F8FF-391B-4021-A8C2-E114D034B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FBF121-F0F8-4837-A946-3F68B2FCD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42432-8ED6-4B84-8AC4-422061248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6FECAB-1F9B-4A7E-ABA6-853E9C96D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F99D-FB73-4A25-911A-02A98A026DF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D3D4B2-9772-4AAF-B020-DF144449C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0685DA-FC80-4EAE-92A3-A4CD197D5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22DF-2FE6-486E-BCE1-18D438BC5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993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23DF-6E96-4568-B747-A892504E7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3E65E4-B8A0-4320-8F4B-E98D06533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F99D-FB73-4A25-911A-02A98A026DF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9E9F07-60A4-49B1-B911-DD716C95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6E61-7775-4337-953D-E93377EC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22DF-2FE6-486E-BCE1-18D438BC5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73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AAEF13-27AA-416B-8A3E-C01A86060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F99D-FB73-4A25-911A-02A98A026DF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E6AFBF-C8EC-4977-91A8-D80757739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A7556-852C-471C-BFAE-5AAE2CCF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22DF-2FE6-486E-BCE1-18D438BC5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05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3D17B-D6A1-41B2-9272-72A7AEA92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23097-DC3D-401C-98FD-307A69A8D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12372-3610-4ECA-9DD3-C2B855B48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51C1C-43DA-4590-AB04-55CD67A82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F99D-FB73-4A25-911A-02A98A026DF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AD18A-A344-4F14-B099-DA50C291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9DF50-EB99-41E7-826B-8D56527EC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22DF-2FE6-486E-BCE1-18D438BC5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174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8391A-89D6-4EE8-B9E0-AA7629B46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9C36E3-9225-40EF-AAA9-2A84413CA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B3E19-BC49-4BF3-A5C8-5F463BEF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F4F25-DA34-47B9-997C-48AC8837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F99D-FB73-4A25-911A-02A98A026DF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F9100-681F-42EA-B7DC-409F45596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74744-86B9-43BB-A0FA-7DC914D9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22DF-2FE6-486E-BCE1-18D438BC5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783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47E48-0F8B-460A-B370-D46E6AEE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F3E62-B88F-48FB-85F0-1D595BF7F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DED21-351C-4D03-B0E6-387FD5613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F99D-FB73-4A25-911A-02A98A026DF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F56A1-D2E2-41C9-8975-AB0699FF3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A79D3-647F-4FE4-98FD-E9865BAB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22DF-2FE6-486E-BCE1-18D438BC5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034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302E2A-CDAE-480B-BCCA-27ED02A29A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F4124-3802-4EEE-BA71-A8D860653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2C3ED-FA47-4FD5-911C-1BFC14CA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5F99D-FB73-4A25-911A-02A98A026DF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80798-F2D3-4F48-ADFF-622CD1AC6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C82A9-DCFB-491F-89E8-7351972B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22DF-2FE6-486E-BCE1-18D438BC5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38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C903BB-9838-4A1F-8F60-02D7B06D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115E1-BAE9-40BC-BC27-9E09D6077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B86A9-8F25-4CDF-A63E-6EFE280E3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5F99D-FB73-4A25-911A-02A98A026DF3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2BFE3-5416-41DD-9993-89804A3366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C8639-67EE-4346-B71E-5CE05102A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F22DF-2FE6-486E-BCE1-18D438BC55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56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21D068-3355-4220-A5A3-E78DCC5989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Luxury Sales Housing Dashboard - Bangalore</a:t>
            </a:r>
            <a:endParaRPr lang="en-IN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030471A-8794-49EC-985D-827054E516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End-to-End Data Analysis using SQL &amp; Power BI</a:t>
            </a:r>
          </a:p>
          <a:p>
            <a:r>
              <a:rPr lang="en-US" dirty="0"/>
              <a:t>MYSQL|SQL|Power BI|DAX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5475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1E9F-F1EF-483E-99FF-250B9972A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19306"/>
          </a:xfrm>
        </p:spPr>
        <p:txBody>
          <a:bodyPr>
            <a:normAutofit/>
          </a:bodyPr>
          <a:lstStyle/>
          <a:p>
            <a:r>
              <a:rPr lang="en-US" sz="3600" b="1" dirty="0"/>
              <a:t>BUSINESS PROBLEM STATEMENT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A198E-92EB-4478-ACB7-A85656772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431"/>
            <a:ext cx="10515600" cy="50084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/>
              <a:t>The Bangalore luxury housing market involves multiple builders, micros-markets, and buyer segments. Stakeholders lack a consolidated, data-driven view to understand.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600" dirty="0"/>
              <a:t> Which builders generate the highest revenue</a:t>
            </a:r>
          </a:p>
          <a:p>
            <a:r>
              <a:rPr lang="en-US" sz="2600" dirty="0"/>
              <a:t> Which micro-markets show stronger demand</a:t>
            </a:r>
          </a:p>
          <a:p>
            <a:r>
              <a:rPr lang="en-US" sz="2600" dirty="0"/>
              <a:t> How bookings change across quarters</a:t>
            </a:r>
          </a:p>
          <a:p>
            <a:r>
              <a:rPr lang="en-US" sz="2600" dirty="0"/>
              <a:t> Buyer preferences based on possession status</a:t>
            </a:r>
          </a:p>
          <a:p>
            <a:r>
              <a:rPr lang="en-US" sz="2600" dirty="0"/>
              <a:t> Effectiveness of sales channels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This project aims to convert raw sales data into actionable business insights.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4210028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BA82-CEA0-46F1-99F6-CD9C903D9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PROJECT OBJECTIVES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AA13E-A00E-4D0D-895A-4C3C7166B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Analyze luxury housing sales performance in Bangalore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Identify top builders and high-performing micro-markets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Track booking trends across quarters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Understand buyer behaviour and configuration demand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Provide an interactive dashboard for decision-makers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824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88783-D1D9-4453-8176-1C442F60E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8049"/>
          </a:xfrm>
        </p:spPr>
        <p:txBody>
          <a:bodyPr>
            <a:normAutofit/>
          </a:bodyPr>
          <a:lstStyle/>
          <a:p>
            <a:r>
              <a:rPr lang="en-US" sz="3600" b="1" dirty="0"/>
              <a:t>DATA OVERVIEW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1F769-4DC9-4733-85B2-5A2D3F65C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5502311"/>
          </a:xfrm>
        </p:spPr>
        <p:txBody>
          <a:bodyPr numCol="1">
            <a:noAutofit/>
          </a:bodyPr>
          <a:lstStyle/>
          <a:p>
            <a:r>
              <a:rPr lang="en-US" sz="2000" dirty="0"/>
              <a:t> Source: Luxury Housing Sales Dataset</a:t>
            </a:r>
          </a:p>
          <a:p>
            <a:r>
              <a:rPr lang="en-US" sz="2000" dirty="0"/>
              <a:t> Granularity: One row per property booking</a:t>
            </a:r>
          </a:p>
          <a:p>
            <a:r>
              <a:rPr lang="en-US" sz="2000" dirty="0"/>
              <a:t> Key fields used:</a:t>
            </a:r>
          </a:p>
          <a:p>
            <a:r>
              <a:rPr lang="en-US" sz="2000" dirty="0"/>
              <a:t> Developer Name</a:t>
            </a:r>
          </a:p>
          <a:p>
            <a:r>
              <a:rPr lang="en-US" sz="2000" dirty="0"/>
              <a:t> Micro Market</a:t>
            </a:r>
          </a:p>
          <a:p>
            <a:r>
              <a:rPr lang="en-US" sz="2000" dirty="0"/>
              <a:t>Ticket Price (Cr)</a:t>
            </a:r>
          </a:p>
          <a:p>
            <a:r>
              <a:rPr lang="en-US" sz="2000" dirty="0"/>
              <a:t>Purchase Quarter</a:t>
            </a:r>
          </a:p>
          <a:p>
            <a:r>
              <a:rPr lang="en-US" sz="2000" dirty="0"/>
              <a:t>Buyer Type</a:t>
            </a:r>
          </a:p>
          <a:p>
            <a:r>
              <a:rPr lang="en-US" sz="2000" dirty="0"/>
              <a:t>Possession Status</a:t>
            </a:r>
          </a:p>
          <a:p>
            <a:r>
              <a:rPr lang="en-US" sz="2000" dirty="0"/>
              <a:t>Sales Channel</a:t>
            </a:r>
          </a:p>
          <a:p>
            <a:r>
              <a:rPr lang="en-US" sz="2000" dirty="0"/>
              <a:t>Amenity Score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SQL views were created to structure the data efficiently for reporting.        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22426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1EDBF-E2A8-4BB4-9C1A-BF5B2078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DATA CLEANING &amp; MODELLING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6A7D2-0A14-429E-ABE4-745F907FA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76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Data Preparation &amp; Modelling Approach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dirty="0"/>
              <a:t> Removed null values from critical fields</a:t>
            </a:r>
          </a:p>
          <a:p>
            <a:r>
              <a:rPr lang="en-IN" dirty="0"/>
              <a:t> Standardized quarter and year formats</a:t>
            </a:r>
          </a:p>
          <a:p>
            <a:r>
              <a:rPr lang="en-IN" dirty="0"/>
              <a:t> Created SQL views for KPIs and analysis</a:t>
            </a:r>
          </a:p>
          <a:p>
            <a:r>
              <a:rPr lang="en-IN" dirty="0"/>
              <a:t> Used fact level data for time based analysis</a:t>
            </a:r>
          </a:p>
          <a:p>
            <a:r>
              <a:rPr lang="en-IN" dirty="0"/>
              <a:t> Designed visuals without unnecessary relationships to avoid aggregation issues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This ensured accurate, scalable, and refresh-safe reporting.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13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E00BD-1A30-40C8-ACDA-B44D3A79A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KPI OVERVIEW</a:t>
            </a:r>
            <a:endParaRPr lang="en-IN" sz="3600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9BEC79-323A-4E89-AA32-1B4CC6ECB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705" y="1690688"/>
            <a:ext cx="5143379" cy="1113011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E89BE9-6BB3-4D9B-B736-4FE38AD5B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084" y="1690688"/>
            <a:ext cx="5691116" cy="11130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22C7CE-B440-4D06-B86A-8AFE46AAC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875" y="3206459"/>
            <a:ext cx="2305372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36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F26B8-B021-4829-9C91-8D2C08F36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779" y="93852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Key Performance Indicators </a:t>
            </a:r>
          </a:p>
          <a:p>
            <a:endParaRPr lang="en-US" dirty="0"/>
          </a:p>
          <a:p>
            <a:r>
              <a:rPr lang="en-US" dirty="0"/>
              <a:t>Average Ticket Price: </a:t>
            </a:r>
            <a:r>
              <a:rPr lang="en-IN" dirty="0"/>
              <a:t>₹12.07 Cr</a:t>
            </a:r>
          </a:p>
          <a:p>
            <a:r>
              <a:rPr lang="en-IN" dirty="0"/>
              <a:t> Average Unit Size: ~6,000 Sqft</a:t>
            </a:r>
          </a:p>
          <a:p>
            <a:r>
              <a:rPr lang="en-IN" dirty="0"/>
              <a:t> Total NRI Buyers: ~49.9K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These KPIs provide a quick snapshot of the overall luxury housing market.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2131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9C2E0-F5CE-439A-AD41-C03693363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BUILDER PERFORMANCE ANALYSIS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902953-B41E-418A-98B6-D1F8284E3F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4525" y="1690688"/>
            <a:ext cx="3388412" cy="4351338"/>
          </a:xfrm>
        </p:spPr>
      </p:pic>
    </p:spTree>
    <p:extLst>
      <p:ext uri="{BB962C8B-B14F-4D97-AF65-F5344CB8AC3E}">
        <p14:creationId xmlns:p14="http://schemas.microsoft.com/office/powerpoint/2010/main" val="735916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250CA-6F4F-41EE-A534-65760BC49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018" y="149807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Builder Performance Analysis </a:t>
            </a:r>
          </a:p>
          <a:p>
            <a:endParaRPr lang="en-US" dirty="0"/>
          </a:p>
          <a:p>
            <a:r>
              <a:rPr lang="en-US" dirty="0"/>
              <a:t>Prestige, SNN Raj, and L&amp;T Realty lead in total revenue</a:t>
            </a:r>
          </a:p>
          <a:p>
            <a:r>
              <a:rPr lang="en-US" dirty="0"/>
              <a:t> Revenue distribution varies significantly across builders</a:t>
            </a:r>
          </a:p>
          <a:p>
            <a:r>
              <a:rPr lang="en-US" dirty="0"/>
              <a:t> Highlights market dominance and competitive positioning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helps stakeholders focus on top-performing developers.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9160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396C-9B20-4E6A-9DC7-02D78C597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MICRO-MARKET PERFORMANCE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0285E7-AC5C-48F7-8F0E-71340D2E5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516069" cy="4164201"/>
          </a:xfrm>
        </p:spPr>
      </p:pic>
    </p:spTree>
    <p:extLst>
      <p:ext uri="{BB962C8B-B14F-4D97-AF65-F5344CB8AC3E}">
        <p14:creationId xmlns:p14="http://schemas.microsoft.com/office/powerpoint/2010/main" val="2642713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C677D-8563-44DC-AE52-B142412E3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78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Micro-Market Conversion Analysis </a:t>
            </a:r>
          </a:p>
          <a:p>
            <a:endParaRPr lang="en-US" dirty="0"/>
          </a:p>
          <a:p>
            <a:r>
              <a:rPr lang="en-US" dirty="0"/>
              <a:t>Certain micro-markets show higher conversion rates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Demand concentration varies by locality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Helps identify high-potential investment zones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896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74A25-C0A5-49E1-83E3-7E5DB8F2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QUARTERLY BOOKING TRENDS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16D8C5-497D-4DC8-970E-87BE468B78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312021" cy="4396213"/>
          </a:xfrm>
        </p:spPr>
      </p:pic>
    </p:spTree>
    <p:extLst>
      <p:ext uri="{BB962C8B-B14F-4D97-AF65-F5344CB8AC3E}">
        <p14:creationId xmlns:p14="http://schemas.microsoft.com/office/powerpoint/2010/main" val="2122705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82F12-E939-41F0-A300-123024564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229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Quarter-wise Booking Trends </a:t>
            </a:r>
          </a:p>
          <a:p>
            <a:endParaRPr lang="en-US" dirty="0"/>
          </a:p>
          <a:p>
            <a:r>
              <a:rPr lang="en-US" dirty="0"/>
              <a:t>Booking volumes fluctuate across quarters</a:t>
            </a:r>
          </a:p>
          <a:p>
            <a:r>
              <a:rPr lang="en-US" dirty="0"/>
              <a:t> Seasonal patterns observed in demand</a:t>
            </a:r>
          </a:p>
          <a:p>
            <a:r>
              <a:rPr lang="en-US" dirty="0"/>
              <a:t> Some micro-markets show consistent booking growth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insight supports sales forecasting and planning.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4202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BD510-6A68-493A-8779-D7B044AC2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GEOGRAPHICAL DISTRIBUTION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B57B67-BAE0-4A4E-AEF7-6FC1EE6A6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01254"/>
            <a:ext cx="8181642" cy="5131558"/>
          </a:xfrm>
        </p:spPr>
      </p:pic>
    </p:spTree>
    <p:extLst>
      <p:ext uri="{BB962C8B-B14F-4D97-AF65-F5344CB8AC3E}">
        <p14:creationId xmlns:p14="http://schemas.microsoft.com/office/powerpoint/2010/main" val="2097373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659EB-9EA0-4260-A1B4-0FE33E9A4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590"/>
            <a:ext cx="10515600" cy="4351338"/>
          </a:xfrm>
        </p:spPr>
        <p:txBody>
          <a:bodyPr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Geographical Insights - Bangalore </a:t>
            </a:r>
          </a:p>
          <a:p>
            <a:endParaRPr lang="en-US" dirty="0"/>
          </a:p>
          <a:p>
            <a:r>
              <a:rPr lang="en-US" dirty="0"/>
              <a:t>Projects are concentrated in key micro-markets like:</a:t>
            </a:r>
          </a:p>
          <a:p>
            <a:endParaRPr lang="en-IN" dirty="0"/>
          </a:p>
          <a:p>
            <a:pPr algn="just"/>
            <a:r>
              <a:rPr lang="en-IN" dirty="0"/>
              <a:t> Whitefield</a:t>
            </a:r>
          </a:p>
          <a:p>
            <a:pPr algn="just"/>
            <a:r>
              <a:rPr lang="en-IN" dirty="0"/>
              <a:t>Yelahanka</a:t>
            </a:r>
          </a:p>
          <a:p>
            <a:pPr algn="just"/>
            <a:r>
              <a:rPr lang="en-IN" dirty="0"/>
              <a:t>Electronic City</a:t>
            </a:r>
          </a:p>
          <a:p>
            <a:pPr algn="just"/>
            <a:r>
              <a:rPr lang="en-IN" dirty="0"/>
              <a:t>JP Nagar</a:t>
            </a:r>
          </a:p>
          <a:p>
            <a:pPr marL="0" indent="0" algn="just">
              <a:buNone/>
            </a:pPr>
            <a:endParaRPr lang="en-IN" dirty="0"/>
          </a:p>
          <a:p>
            <a:r>
              <a:rPr lang="en-IN" dirty="0"/>
              <a:t> Visual representation helps identify regional demand clusters</a:t>
            </a:r>
          </a:p>
        </p:txBody>
      </p:sp>
    </p:spTree>
    <p:extLst>
      <p:ext uri="{BB962C8B-B14F-4D97-AF65-F5344CB8AC3E}">
        <p14:creationId xmlns:p14="http://schemas.microsoft.com/office/powerpoint/2010/main" val="330912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8B45F-E6BA-4A23-B43C-8C85DEAF9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BUYER BEHAVIOUR ANALYSIS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C2D972-6A86-4ADF-8211-F297DD2BC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639" y="1787858"/>
            <a:ext cx="8570794" cy="4367282"/>
          </a:xfrm>
        </p:spPr>
      </p:pic>
    </p:spTree>
    <p:extLst>
      <p:ext uri="{BB962C8B-B14F-4D97-AF65-F5344CB8AC3E}">
        <p14:creationId xmlns:p14="http://schemas.microsoft.com/office/powerpoint/2010/main" val="898079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B36F0-4CC6-4E0F-AAFC-89B871D18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Buyer Type &amp; Possession Status Analysis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Ready-to-move properties show higher buyer interest</a:t>
            </a:r>
          </a:p>
          <a:p>
            <a:r>
              <a:rPr lang="en-US" dirty="0"/>
              <a:t> Buyer preferences vary based on possession stage</a:t>
            </a:r>
          </a:p>
          <a:p>
            <a:r>
              <a:rPr lang="en-US" dirty="0"/>
              <a:t> Helps builders align inventory with buyer expectations</a:t>
            </a:r>
          </a:p>
        </p:txBody>
      </p:sp>
    </p:spTree>
    <p:extLst>
      <p:ext uri="{BB962C8B-B14F-4D97-AF65-F5344CB8AC3E}">
        <p14:creationId xmlns:p14="http://schemas.microsoft.com/office/powerpoint/2010/main" val="3589532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2AE8-0710-49EE-AF61-AF9CBBB5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CONFIGURATION DEMAND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174C60-29CF-416C-896C-21533DC61A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688" y="1690688"/>
            <a:ext cx="8168960" cy="4478100"/>
          </a:xfrm>
        </p:spPr>
      </p:pic>
    </p:spTree>
    <p:extLst>
      <p:ext uri="{BB962C8B-B14F-4D97-AF65-F5344CB8AC3E}">
        <p14:creationId xmlns:p14="http://schemas.microsoft.com/office/powerpoint/2010/main" val="316795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22BB6-4F3D-4FC6-9585-0C5BCD537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594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Configuration Demand Analysis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2BHK and 3BHK units dominate demand</a:t>
            </a:r>
          </a:p>
          <a:p>
            <a:r>
              <a:rPr lang="en-US" dirty="0"/>
              <a:t> Indicates preference for mid-sized luxury units</a:t>
            </a:r>
          </a:p>
          <a:p>
            <a:r>
              <a:rPr lang="en-US" dirty="0"/>
              <a:t> Useful for project planning and pricing strategies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3897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1ADA6-FB6E-4269-902B-9B751A91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SALES CHANNEL PERFORMANCE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74E03A-9B95-4DED-8EFA-0A1E4CD29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9934" y="1690688"/>
            <a:ext cx="8338782" cy="4136906"/>
          </a:xfrm>
        </p:spPr>
      </p:pic>
    </p:spTree>
    <p:extLst>
      <p:ext uri="{BB962C8B-B14F-4D97-AF65-F5344CB8AC3E}">
        <p14:creationId xmlns:p14="http://schemas.microsoft.com/office/powerpoint/2010/main" val="2509883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1F153-C783-4E79-B792-6FD7E8277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Sales Channel Contribution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Online, Broker, and Direct channels contribute significantly</a:t>
            </a:r>
          </a:p>
          <a:p>
            <a:r>
              <a:rPr lang="en-US" dirty="0"/>
              <a:t> Performance varies across channels</a:t>
            </a:r>
          </a:p>
          <a:p>
            <a:r>
              <a:rPr lang="en-US" dirty="0"/>
              <a:t> Helps optimize sales and marketing strategy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577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B550-CAB6-4EC9-8554-9CCB85FAC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KEY INSIGHTS &amp; BUSINESS IMPACT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B39E6-2613-4ECA-88B7-350FCA97E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Key Business Insights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Identified top builders and revenue leaders</a:t>
            </a:r>
          </a:p>
          <a:p>
            <a:r>
              <a:rPr lang="en-US" dirty="0"/>
              <a:t> Highlighted high-performing micro-markets</a:t>
            </a:r>
          </a:p>
          <a:p>
            <a:r>
              <a:rPr lang="en-US" dirty="0"/>
              <a:t> Revealed booking trends and buyer behaviour</a:t>
            </a:r>
          </a:p>
          <a:p>
            <a:r>
              <a:rPr lang="en-US" dirty="0"/>
              <a:t> Enabled data-driven decision making through interactive visuals</a:t>
            </a:r>
          </a:p>
        </p:txBody>
      </p:sp>
    </p:spTree>
    <p:extLst>
      <p:ext uri="{BB962C8B-B14F-4D97-AF65-F5344CB8AC3E}">
        <p14:creationId xmlns:p14="http://schemas.microsoft.com/office/powerpoint/2010/main" val="430740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A14F5-9E8B-4792-8EA4-7078F701E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6579" y="2036763"/>
            <a:ext cx="9144000" cy="2387600"/>
          </a:xfrm>
        </p:spPr>
        <p:txBody>
          <a:bodyPr>
            <a:normAutofit/>
          </a:bodyPr>
          <a:lstStyle/>
          <a:p>
            <a:r>
              <a:rPr lang="en-US" sz="9600" b="1" dirty="0"/>
              <a:t>THANK YOU!</a:t>
            </a:r>
            <a:endParaRPr lang="en-IN" sz="9600" b="1" dirty="0"/>
          </a:p>
        </p:txBody>
      </p:sp>
    </p:spTree>
    <p:extLst>
      <p:ext uri="{BB962C8B-B14F-4D97-AF65-F5344CB8AC3E}">
        <p14:creationId xmlns:p14="http://schemas.microsoft.com/office/powerpoint/2010/main" val="1712070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535</Words>
  <Application>Microsoft Office PowerPoint</Application>
  <PresentationFormat>Widescreen</PresentationFormat>
  <Paragraphs>116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Luxury Sales Housing Dashboard - Bangalore</vt:lpstr>
      <vt:lpstr>BUSINESS PROBLEM STATEMENT</vt:lpstr>
      <vt:lpstr>PROJECT OBJECTIVES</vt:lpstr>
      <vt:lpstr>DATA OVERVIEW</vt:lpstr>
      <vt:lpstr>DATA CLEANING &amp; MODELLING</vt:lpstr>
      <vt:lpstr>KPI OVERVIEW</vt:lpstr>
      <vt:lpstr>PowerPoint Presentation</vt:lpstr>
      <vt:lpstr>BUILDER PERFORMANCE ANALYSIS</vt:lpstr>
      <vt:lpstr>PowerPoint Presentation</vt:lpstr>
      <vt:lpstr>MICRO-MARKET PERFORMANCE</vt:lpstr>
      <vt:lpstr>PowerPoint Presentation</vt:lpstr>
      <vt:lpstr>QUARTERLY BOOKING TRENDS</vt:lpstr>
      <vt:lpstr>PowerPoint Presentation</vt:lpstr>
      <vt:lpstr>GEOGRAPHICAL DISTRIBUTION</vt:lpstr>
      <vt:lpstr>PowerPoint Presentation</vt:lpstr>
      <vt:lpstr>BUYER BEHAVIOUR ANALYSIS</vt:lpstr>
      <vt:lpstr>PowerPoint Presentation</vt:lpstr>
      <vt:lpstr>CONFIGURATION DEMAND</vt:lpstr>
      <vt:lpstr>PowerPoint Presentation</vt:lpstr>
      <vt:lpstr>SALES CHANNEL PERFORMANCE</vt:lpstr>
      <vt:lpstr>PowerPoint Presentation</vt:lpstr>
      <vt:lpstr>KEY INSIGHTS &amp; BUSINESS IMPACT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Brighton</dc:creator>
  <cp:lastModifiedBy>Brighton</cp:lastModifiedBy>
  <cp:revision>13</cp:revision>
  <dcterms:created xsi:type="dcterms:W3CDTF">2026-01-13T13:28:02Z</dcterms:created>
  <dcterms:modified xsi:type="dcterms:W3CDTF">2026-01-13T17:28:02Z</dcterms:modified>
</cp:coreProperties>
</file>